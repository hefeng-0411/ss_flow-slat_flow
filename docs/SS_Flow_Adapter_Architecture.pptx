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38693D-6A8B-4B97-BF02-7ABB431A4C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74654-1CC3-4E20-BA1F-BFC764FD3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869DA8-C9E6-43D8-8C3A-921B5BA220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036A8D-ECAE-4F5C-AFCD-94CB7652CF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DDDAC3-0EA3-48B3-AC0E-5CFF50D850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A067AE-347C-4995-84D7-E39A4F053A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7BC60B-2023-4592-9B36-9852B4AEB9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81095-F8D4-4737-9301-2939E940E3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3D31DF-71EF-41D5-9CDB-5EBA6D68E4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462001-B190-4FB8-9A26-4AE0458D6F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DB33BB-7782-4CD9-9074-E2BEE59B2F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8BC73-1CE0-4439-B36B-4673DA8E16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A7F4572-0DE8-4016-A052-0FFA7D32A58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288000" y="198000"/>
            <a:ext cx="8784000" cy="468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12a46"/>
                </a:solidFill>
                <a:latin typeface="Arial"/>
              </a:rPr>
              <a:t>SS_Flow Adapter</a:t>
            </a:r>
            <a:r>
              <a:rPr b="1" lang="zh-CN" sz="2500" spc="-1" strike="noStrike">
                <a:solidFill>
                  <a:srgbClr val="112a46"/>
                </a:solidFill>
                <a:latin typeface="Arial"/>
              </a:rPr>
              <a:t>：以多视图证据约束 </a:t>
            </a:r>
            <a:r>
              <a:rPr b="1" lang="en-US" sz="2500" spc="-1" strike="noStrike">
                <a:solidFill>
                  <a:srgbClr val="112a46"/>
                </a:solidFill>
                <a:latin typeface="Arial"/>
              </a:rPr>
              <a:t>TRELLIS </a:t>
            </a:r>
            <a:r>
              <a:rPr b="1" lang="zh-CN" sz="2500" spc="-1" strike="noStrike">
                <a:solidFill>
                  <a:srgbClr val="112a46"/>
                </a:solidFill>
                <a:latin typeface="Arial"/>
              </a:rPr>
              <a:t>生成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06000" y="630000"/>
            <a:ext cx="8640000" cy="421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设计目标：冻结 </a:t>
            </a:r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VGGT 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与 </a:t>
            </a:r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TRELLIS 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主干，仅学习可信、局部、受限的速度残差。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324000" y="1080000"/>
            <a:ext cx="1692000" cy="12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44" name=""/>
          <p:cNvSpPr txBox="1"/>
          <p:nvPr/>
        </p:nvSpPr>
        <p:spPr>
          <a:xfrm>
            <a:off x="450000" y="1206000"/>
            <a:ext cx="1440000" cy="1832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多视图观测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RGB / mask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相机参数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VGGT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深度、点图、特征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070000" y="1512000"/>
            <a:ext cx="504000" cy="316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556000" y="1080000"/>
            <a:ext cx="1908000" cy="12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47" name=""/>
          <p:cNvSpPr txBox="1"/>
          <p:nvPr/>
        </p:nvSpPr>
        <p:spPr>
          <a:xfrm>
            <a:off x="2682000" y="1206000"/>
            <a:ext cx="1656000" cy="3132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GeoSS</a:t>
            </a:r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：结构证据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坐标对齐 → 动态锚点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射线占据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/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自由空间证据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跨视图融合与置信度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518000" y="1512000"/>
            <a:ext cx="504000" cy="316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004000" y="1080000"/>
            <a:ext cx="1764000" cy="12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50" name=""/>
          <p:cNvSpPr txBox="1"/>
          <p:nvPr/>
        </p:nvSpPr>
        <p:spPr>
          <a:xfrm>
            <a:off x="5130000" y="1206000"/>
            <a:ext cx="1512000" cy="2922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TRELLIS Flow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SS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：稠密结构速度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SLAT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：稀疏外观速度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提供冻结的生成先验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22000" y="1512000"/>
            <a:ext cx="504000" cy="316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308000" y="1080000"/>
            <a:ext cx="1692000" cy="12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53" name=""/>
          <p:cNvSpPr txBox="1"/>
          <p:nvPr/>
        </p:nvSpPr>
        <p:spPr>
          <a:xfrm>
            <a:off x="7434000" y="1206000"/>
            <a:ext cx="1440000" cy="280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受控残差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高置信区域校正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低置信区域保留先验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输出结构与外观资产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96000" y="2592000"/>
            <a:ext cx="856800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v = v_base + </a:t>
            </a:r>
            <a:r>
              <a:rPr b="1" lang="zh-CN" sz="1600" spc="-1" strike="noStrike">
                <a:solidFill>
                  <a:srgbClr val="0d5b8c"/>
                </a:solidFill>
                <a:latin typeface="Arial"/>
              </a:rPr>
              <a:t>时间门控 </a:t>
            </a:r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× </a:t>
            </a:r>
            <a:r>
              <a:rPr b="1" lang="zh-CN" sz="1600" spc="-1" strike="noStrike">
                <a:solidFill>
                  <a:srgbClr val="0d5b8c"/>
                </a:solidFill>
                <a:latin typeface="Arial"/>
              </a:rPr>
              <a:t>证据置信度 </a:t>
            </a:r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× </a:t>
            </a:r>
            <a:r>
              <a:rPr b="1" lang="zh-CN" sz="1600" spc="-1" strike="noStrike">
                <a:solidFill>
                  <a:srgbClr val="0d5b8c"/>
                </a:solidFill>
                <a:latin typeface="Arial"/>
              </a:rPr>
              <a:t>信赖域内的残差</a:t>
            </a:r>
            <a:endParaRPr b="0" lang="en-US" sz="1600" spc="-1" strike="noStrike">
              <a:latin typeface="Arial"/>
            </a:endParaRPr>
          </a:p>
          <a:p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核心原则：不替代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TRELLIS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，而是在观测充分时对其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Flow 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轨迹进行可控校正。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288000" y="198000"/>
            <a:ext cx="8640000" cy="468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12a46"/>
                </a:solidFill>
                <a:latin typeface="Arial"/>
              </a:rPr>
              <a:t>SS / GeoSS</a:t>
            </a:r>
            <a:r>
              <a:rPr b="1" lang="zh-CN" sz="2500" spc="-1" strike="noStrike">
                <a:solidFill>
                  <a:srgbClr val="112a46"/>
                </a:solidFill>
                <a:latin typeface="Arial"/>
              </a:rPr>
              <a:t>：用稀疏射线证据控制稠密结构 </a:t>
            </a:r>
            <a:r>
              <a:rPr b="1" lang="en-US" sz="2500" spc="-1" strike="noStrike">
                <a:solidFill>
                  <a:srgbClr val="112a46"/>
                </a:solidFill>
                <a:latin typeface="Arial"/>
              </a:rPr>
              <a:t>Flow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06000" y="630000"/>
            <a:ext cx="8640000" cy="421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“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先在锚点上聚合几何，再由体素查询附近锚点”，兼顾三维约束与计算效率。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24000" y="1080000"/>
            <a:ext cx="2052000" cy="165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58" name=""/>
          <p:cNvSpPr txBox="1"/>
          <p:nvPr/>
        </p:nvSpPr>
        <p:spPr>
          <a:xfrm>
            <a:off x="432000" y="1206000"/>
            <a:ext cx="1836000" cy="5115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1. </a:t>
            </a:r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建立可信几何证据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Sim(3)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对齐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VGGT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点图与已知相机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混合锚点：全局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learnable 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表面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边界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/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不确定点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投影每个锚点到各视图，判断占据、自由空间与冲突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430000" y="1746000"/>
            <a:ext cx="432000" cy="316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844000" y="1080000"/>
            <a:ext cx="2052000" cy="165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61" name=""/>
          <p:cNvSpPr txBox="1"/>
          <p:nvPr/>
        </p:nvSpPr>
        <p:spPr>
          <a:xfrm>
            <a:off x="2952000" y="1206000"/>
            <a:ext cx="1836000" cy="4719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2. </a:t>
            </a:r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跨视图融合与校准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每个锚点仅注意自己的多视图证据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输出占据概率、自由证据与不确定度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有效视图少或证据冲突时，几何置信度自动降低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950000" y="1746000"/>
            <a:ext cx="432000" cy="316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→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364000" y="1080000"/>
            <a:ext cx="3636000" cy="165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64" name=""/>
          <p:cNvSpPr txBox="1"/>
          <p:nvPr/>
        </p:nvSpPr>
        <p:spPr>
          <a:xfrm>
            <a:off x="5490000" y="1206000"/>
            <a:ext cx="3384000" cy="3252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3. </a:t>
            </a:r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局部速度校正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每个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SS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体素只查询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K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个最近锚点，而非全局注意力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残差受锚点置信度、时间门控和信赖域共同限制</a:t>
            </a:r>
            <a:endParaRPr b="0" lang="en-US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v_SS = v_base + α(t) · c_token · clipτ(Δv)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低置信、无观测或冲突区域退回冻结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TRELLIS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先验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14000" y="2898000"/>
            <a:ext cx="846000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收益：显式利用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mask / 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深度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/ 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投影约束空空间和表面位置，同时避免“稠密体素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× 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全图 </a:t>
            </a:r>
            <a:r>
              <a:rPr b="0" lang="en-US" sz="1000" spc="-1" strike="noStrike">
                <a:solidFill>
                  <a:srgbClr val="52677d"/>
                </a:solidFill>
                <a:latin typeface="Arial"/>
              </a:rPr>
              <a:t>token”</a:t>
            </a:r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的显存爆炸。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288000" y="198000"/>
            <a:ext cx="8640000" cy="468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12a46"/>
                </a:solidFill>
                <a:latin typeface="Arial"/>
              </a:rPr>
              <a:t>SLAT </a:t>
            </a:r>
            <a:r>
              <a:rPr b="1" lang="zh-CN" sz="2500" spc="-1" strike="noStrike">
                <a:solidFill>
                  <a:srgbClr val="112a46"/>
                </a:solidFill>
                <a:latin typeface="Arial"/>
              </a:rPr>
              <a:t>与训练：几何可信后，再进行外观修正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06000" y="630000"/>
            <a:ext cx="864000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SLAT 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仅处理 </a:t>
            </a:r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TRELLIS 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的 </a:t>
            </a:r>
            <a:r>
              <a:rPr b="0" lang="en-US" sz="1300" spc="-1" strike="noStrike">
                <a:solidFill>
                  <a:srgbClr val="52677d"/>
                </a:solidFill>
                <a:latin typeface="Arial"/>
              </a:rPr>
              <a:t>active voxel</a:t>
            </a:r>
            <a:r>
              <a:rPr b="0" lang="zh-CN" sz="1300" spc="-1" strike="noStrike">
                <a:solidFill>
                  <a:srgbClr val="52677d"/>
                </a:solidFill>
                <a:latin typeface="Arial"/>
              </a:rPr>
              <a:t>；训练按“证据 → 结构速度 → 外观速度”逐级进行。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24000" y="1080000"/>
            <a:ext cx="2880000" cy="1584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69" name=""/>
          <p:cNvSpPr txBox="1"/>
          <p:nvPr/>
        </p:nvSpPr>
        <p:spPr>
          <a:xfrm>
            <a:off x="450000" y="1206000"/>
            <a:ext cx="2628000" cy="5396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Arial"/>
              </a:rPr>
              <a:t>GeoVis-SLAT</a:t>
            </a:r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：外观条件与速度残差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将每个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active voxel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投影到多视图，采样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RGB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、特征、深度、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mask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以可见性、遮挡、深度残差和跨视图外观冲突计算可靠性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•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对齐同一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voxel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的条件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token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，预测外观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latent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的局部修正</a:t>
            </a:r>
            <a:endParaRPr b="0" lang="en-US" sz="1300" spc="-1" strike="noStrike">
              <a:latin typeface="Arial"/>
            </a:endParaRPr>
          </a:p>
          <a:p>
            <a:r>
              <a:rPr b="1" lang="en-US" sz="1600" spc="-1" strike="noStrike">
                <a:solidFill>
                  <a:srgbClr val="0d5b8c"/>
                </a:solidFill>
                <a:latin typeface="Arial"/>
              </a:rPr>
              <a:t>v_SLAT = v_base + β(t) · c_SLAT · c_SS · gate · Δv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330000" y="1080000"/>
            <a:ext cx="5670000" cy="1584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</p:sp>
      <p:sp>
        <p:nvSpPr>
          <p:cNvPr id="71" name=""/>
          <p:cNvSpPr txBox="1"/>
          <p:nvPr/>
        </p:nvSpPr>
        <p:spPr>
          <a:xfrm>
            <a:off x="3456000" y="1206000"/>
            <a:ext cx="5400000" cy="3594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Arial"/>
              </a:rPr>
              <a:t>三阶段训练策略（主干始终冻结）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阶段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1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｜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GeoSS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证据学习：占据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/ Dice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、射线自由空间、投影一致性、置信度校准。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阶段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2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｜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SS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速度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adapter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：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Flow Matching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残差监督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速度正则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低置信先验保持。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阶段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3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｜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SLAT adapter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：稀疏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Flow Matching 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多视图一致性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+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外观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/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可见性监督。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可选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Phase 2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｜经冻结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SLAT decoder 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渲染，以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RGB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、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mask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、感知和几何误差反传至 </a:t>
            </a:r>
            <a:r>
              <a:rPr b="0" lang="en-US" sz="1300" spc="-1" strike="noStrike">
                <a:solidFill>
                  <a:srgbClr val="18334f"/>
                </a:solidFill>
                <a:latin typeface="Arial"/>
              </a:rPr>
              <a:t>adapter</a:t>
            </a:r>
            <a:r>
              <a:rPr b="0" lang="zh-CN" sz="1300" spc="-1" strike="noStrike">
                <a:solidFill>
                  <a:srgbClr val="18334f"/>
                </a:solidFill>
                <a:latin typeface="Arial"/>
              </a:rPr>
              <a:t>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14000" y="2898000"/>
            <a:ext cx="846000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000" spc="-1" strike="noStrike">
                <a:solidFill>
                  <a:srgbClr val="52677d"/>
                </a:solidFill>
                <a:latin typeface="Arial"/>
              </a:rPr>
              <a:t>关键约束：证据可靠性、修正需求与残差不确定性分别建模；因此模型不会将“看得清”误判为“必须大幅修改”。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LibreOffice/7.3.2.2$Linux_X86_64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